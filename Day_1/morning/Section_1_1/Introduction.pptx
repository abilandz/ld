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8" r:id="rId1"/>
  </p:sldMasterIdLst>
  <p:notesMasterIdLst>
    <p:notesMasterId r:id="rId21"/>
  </p:notesMasterIdLst>
  <p:handoutMasterIdLst>
    <p:handoutMasterId r:id="rId22"/>
  </p:handoutMasterIdLst>
  <p:sldIdLst>
    <p:sldId id="785" r:id="rId2"/>
    <p:sldId id="1246" r:id="rId3"/>
    <p:sldId id="1247" r:id="rId4"/>
    <p:sldId id="1314" r:id="rId5"/>
    <p:sldId id="1315" r:id="rId6"/>
    <p:sldId id="1316" r:id="rId7"/>
    <p:sldId id="1317" r:id="rId8"/>
    <p:sldId id="1318" r:id="rId9"/>
    <p:sldId id="1319" r:id="rId10"/>
    <p:sldId id="1320" r:id="rId11"/>
    <p:sldId id="1321" r:id="rId12"/>
    <p:sldId id="1322" r:id="rId13"/>
    <p:sldId id="1323" r:id="rId14"/>
    <p:sldId id="1324" r:id="rId15"/>
    <p:sldId id="1325" r:id="rId16"/>
    <p:sldId id="1326" r:id="rId17"/>
    <p:sldId id="1327" r:id="rId18"/>
    <p:sldId id="1328" r:id="rId19"/>
    <p:sldId id="1206" r:id="rId2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35" autoAdjust="0"/>
    <p:restoredTop sz="84014" autoAdjust="0"/>
  </p:normalViewPr>
  <p:slideViewPr>
    <p:cSldViewPr>
      <p:cViewPr varScale="1">
        <p:scale>
          <a:sx n="74" d="100"/>
          <a:sy n="74" d="100"/>
        </p:scale>
        <p:origin x="540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0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9CBCE-E64B-4074-AF48-7FACC033E4C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6A9F9-D224-445E-81A0-6F35CA4CE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822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417EDA05-EA9F-415A-8831-732C41A9B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449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71A8D7B-0D86-4A44-803B-95714DFFD043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a-DK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4CDDBA-CA9C-4B9E-A469-01F6E1F88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5760" indent="-256032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sz="2400"/>
            </a:lvl1pPr>
            <a:lvl2pPr marL="658368" indent="-246888">
              <a:buSzPct val="90000"/>
              <a:buFont typeface="Courier New" panose="02070309020205020404" pitchFamily="49" charset="0"/>
              <a:buChar char="o"/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477000"/>
            <a:ext cx="1016000" cy="36576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4" descr="http://www.cdtm.de/wp-content/uploads/tum-logo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0" y="6477000"/>
            <a:ext cx="539220" cy="28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9BDACA-D2CE-451A-85DD-854488BD98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89718-E319-434D-B5FC-0EEDDAC15CA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46AF5403-7044-4204-997E-5058D10977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pPr>
              <a:defRPr/>
            </a:pPr>
            <a:fld id="{A1F5EF5F-AF56-4F36-BDCD-7B3CD0D77B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21D816-5B1B-4C44-B98A-C0E904DC0E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DF71C-C909-4954-B404-384DA610BE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2BF0E0-CCD0-405B-949F-4B99F361AF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F44AC-69C0-4E96-8A84-D71A1F0592C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165527-9FED-4606-9920-D2906CAFEE2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373942E-D30E-48EE-AF6D-153445E484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297" r:id="rId9"/>
    <p:sldLayoutId id="2147484298" r:id="rId10"/>
    <p:sldLayoutId id="214748429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Helvetica" pitchFamily="34" charset="0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Helvetica" pitchFamily="34" charset="0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Helvetica" pitchFamily="34" charset="0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Helvetica" pitchFamily="34" charset="0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age_share_of_operating_systems#Desktop_and_laptop_computer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age_share_of_operating_systems#Supercomputer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istrowatch.com/" TargetMode="External"/><Relationship Id="rId2" Type="http://schemas.openxmlformats.org/officeDocument/2006/relationships/hyperlink" Target="https://distrowatch.com/images/other/distro-family-tree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tty.org/" TargetMode="External"/><Relationship Id="rId2" Type="http://schemas.openxmlformats.org/officeDocument/2006/relationships/hyperlink" Target="https://learn.microsoft.com/en-gb/windows/wsl/abou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git.savannah.gnu.org/cgit/bash.git" TargetMode="External"/><Relationship Id="rId2" Type="http://schemas.openxmlformats.org/officeDocument/2006/relationships/hyperlink" Target="https://www.gnu.org/software/bash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905000"/>
            <a:ext cx="7772400" cy="15557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GB" sz="3600" b="1" dirty="0" smtClean="0">
                <a:ln w="254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</a:rPr>
              <a:t>Introduction to </a:t>
            </a:r>
            <a:br>
              <a:rPr lang="en-GB" sz="3600" b="1" dirty="0" smtClean="0">
                <a:ln w="254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</a:rPr>
            </a:br>
            <a:r>
              <a:rPr lang="en-GB" sz="3600" b="1" dirty="0" smtClean="0">
                <a:ln w="254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</a:rPr>
              <a:t>Linux OS and Bash shell</a:t>
            </a:r>
            <a:endParaRPr lang="en-US" sz="2400" dirty="0">
              <a:ln w="15875">
                <a:gradFill flip="none" rotWithShape="1">
                  <a:gsLst>
                    <a:gs pos="0">
                      <a:schemeClr val="accent6">
                        <a:lumMod val="67000"/>
                      </a:schemeClr>
                    </a:gs>
                    <a:gs pos="48000">
                      <a:schemeClr val="accent6">
                        <a:lumMod val="97000"/>
                        <a:lumOff val="3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ln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0592B-5274-44DA-8083-FD1DFDCEF72C}" type="slidenum">
              <a:rPr lang="en-US">
                <a:solidFill>
                  <a:schemeClr val="accent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2362200" y="4114800"/>
            <a:ext cx="7315200" cy="914400"/>
          </a:xfrm>
          <a:prstGeom prst="rect">
            <a:avLst/>
          </a:prstGeom>
          <a:noFill/>
          <a:ln>
            <a:noFill/>
          </a:ln>
          <a:effectLst>
            <a:glow rad="228600">
              <a:schemeClr val="bg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 eaLnBrk="1" hangingPunct="1">
              <a:defRPr/>
            </a:pPr>
            <a:r>
              <a:rPr lang="en-GB" sz="2000" b="1" dirty="0" smtClean="0">
                <a:ln w="12700">
                  <a:solidFill>
                    <a:schemeClr val="accent6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rPr>
              <a:t>Ante Bilandzic</a:t>
            </a:r>
          </a:p>
          <a:p>
            <a:pPr algn="ctr" eaLnBrk="1" hangingPunct="1">
              <a:defRPr/>
            </a:pPr>
            <a:r>
              <a:rPr lang="en-GB" sz="2000" b="1" dirty="0" smtClean="0">
                <a:ln w="12700">
                  <a:solidFill>
                    <a:schemeClr val="accent6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rPr>
              <a:t>(E62, Dense and Strange Hadronic Matter)</a:t>
            </a:r>
            <a:endParaRPr lang="en-US" sz="2000" dirty="0">
              <a:ln w="12700">
                <a:solidFill>
                  <a:schemeClr val="accent6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760" name="AutoShape 8" descr="2011-Nov-24-ALICE_logo_WhiteOut_Black_WithoutStraplin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da-DK"/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679576" y="-327025"/>
            <a:ext cx="128587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nline image 1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0" name="Picture 4" descr="http://www.cdtm.de/wp-content/uploads/tum-log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600" y="5247050"/>
            <a:ext cx="1368000" cy="72000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43410" y="6474023"/>
            <a:ext cx="2172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 smtClean="0">
                <a:ln w="6350">
                  <a:solidFill>
                    <a:schemeClr val="accent6"/>
                  </a:solidFill>
                </a:ln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Last update: </a:t>
            </a:r>
            <a:r>
              <a:rPr lang="en-DE" sz="1400" dirty="0" smtClean="0">
                <a:ln w="6350">
                  <a:solidFill>
                    <a:schemeClr val="accent6"/>
                  </a:solidFill>
                </a:ln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202</a:t>
            </a:r>
            <a:r>
              <a:rPr lang="en-GB" sz="1400" dirty="0" smtClean="0">
                <a:ln w="6350">
                  <a:solidFill>
                    <a:schemeClr val="accent6"/>
                  </a:solidFill>
                </a:ln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6090</a:t>
            </a:r>
            <a:r>
              <a:rPr lang="en-DE" sz="1400" dirty="0" smtClean="0">
                <a:ln w="6350">
                  <a:solidFill>
                    <a:schemeClr val="accent6"/>
                  </a:solidFill>
                </a:ln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1-1</a:t>
            </a:r>
            <a:endParaRPr lang="en-US" sz="1400" dirty="0">
              <a:ln w="6350">
                <a:solidFill>
                  <a:schemeClr val="accent6"/>
                </a:solidFill>
              </a:ln>
              <a:solidFill>
                <a:schemeClr val="bg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3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0972800" cy="4325112"/>
          </a:xfrm>
        </p:spPr>
        <p:txBody>
          <a:bodyPr/>
          <a:lstStyle/>
          <a:p>
            <a:r>
              <a:rPr lang="da-DK" dirty="0" smtClean="0"/>
              <a:t>Introduction</a:t>
            </a:r>
            <a:endParaRPr lang="da-DK" dirty="0"/>
          </a:p>
          <a:p>
            <a:pPr lvl="1"/>
            <a:r>
              <a:rPr lang="da-DK" dirty="0" smtClean="0"/>
              <a:t>Linux OS</a:t>
            </a:r>
            <a:endParaRPr lang="da-DK" dirty="0"/>
          </a:p>
          <a:p>
            <a:pPr lvl="1"/>
            <a:r>
              <a:rPr lang="da-DK" dirty="0" smtClean="0"/>
              <a:t>Bash shell</a:t>
            </a:r>
            <a:endParaRPr lang="da-DK" dirty="0"/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86200"/>
            <a:ext cx="3766778" cy="838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219200"/>
            <a:ext cx="6604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5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Why Linux OS?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0972800" cy="722376"/>
          </a:xfrm>
        </p:spPr>
        <p:txBody>
          <a:bodyPr>
            <a:normAutofit/>
          </a:bodyPr>
          <a:lstStyle/>
          <a:p>
            <a:r>
              <a:rPr lang="en-GB" dirty="0"/>
              <a:t>Statistics for all desktop/laptop computers</a:t>
            </a:r>
            <a:r>
              <a:rPr lang="en-GB" dirty="0" smtClean="0"/>
              <a:t>:</a:t>
            </a:r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491596"/>
            <a:ext cx="5181600" cy="39292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800" y="6474023"/>
            <a:ext cx="171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Taken from this </a:t>
            </a:r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link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98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338480"/>
            <a:ext cx="6781800" cy="44842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Why Linux OS?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0972800" cy="722376"/>
          </a:xfrm>
        </p:spPr>
        <p:txBody>
          <a:bodyPr>
            <a:normAutofit/>
          </a:bodyPr>
          <a:lstStyle/>
          <a:p>
            <a:r>
              <a:rPr lang="en-GB" dirty="0"/>
              <a:t>Statistics for all </a:t>
            </a:r>
            <a:r>
              <a:rPr lang="en-GB" dirty="0" smtClean="0"/>
              <a:t>supercomputers:</a:t>
            </a:r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113304" y="5940623"/>
            <a:ext cx="171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Taken from this </a:t>
            </a:r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link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4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Why Linux OS?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6858000" cy="4227576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Linux is by far the leading operating system in computers used in scientific research (CERN, NASA, etc.)</a:t>
            </a:r>
          </a:p>
          <a:p>
            <a:pPr algn="just"/>
            <a:r>
              <a:rPr lang="en-GB" b="1" dirty="0">
                <a:solidFill>
                  <a:srgbClr val="C00000"/>
                </a:solidFill>
              </a:rPr>
              <a:t>Linux kernel:</a:t>
            </a:r>
            <a:r>
              <a:rPr lang="en-GB" b="1" dirty="0"/>
              <a:t> </a:t>
            </a:r>
            <a:r>
              <a:rPr lang="en-GB" dirty="0"/>
              <a:t>developed by Linus Torvalds in the early 90s</a:t>
            </a:r>
          </a:p>
          <a:p>
            <a:pPr algn="just"/>
            <a:r>
              <a:rPr lang="en-GB" b="1" dirty="0">
                <a:solidFill>
                  <a:srgbClr val="C00000"/>
                </a:solidFill>
              </a:rPr>
              <a:t>GNU (‘GNU’s not Unix’): </a:t>
            </a:r>
            <a:r>
              <a:rPr lang="en-GB" dirty="0"/>
              <a:t>open source utilities to perform standard actions on the computer </a:t>
            </a:r>
            <a:r>
              <a:rPr lang="en-DE" dirty="0"/>
              <a:t>–</a:t>
            </a:r>
            <a:r>
              <a:rPr lang="en-GB" dirty="0"/>
              <a:t> no licensing</a:t>
            </a:r>
          </a:p>
          <a:p>
            <a:pPr lvl="1" algn="just"/>
            <a:r>
              <a:rPr lang="en-GB" dirty="0"/>
              <a:t>Linux kernel + GNU utilities = Linux </a:t>
            </a:r>
            <a:r>
              <a:rPr lang="en-GB" dirty="0" smtClean="0"/>
              <a:t>OS</a:t>
            </a:r>
            <a:endParaRPr lang="en-GB" dirty="0"/>
          </a:p>
          <a:p>
            <a:pPr algn="just"/>
            <a:r>
              <a:rPr lang="en-GB" dirty="0"/>
              <a:t>Initially, the Linux OS was basically a free Unix </a:t>
            </a:r>
          </a:p>
          <a:p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2057400"/>
            <a:ext cx="2024794" cy="24780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4876800"/>
            <a:ext cx="3548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222222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Penguin named </a:t>
            </a:r>
            <a:r>
              <a:rPr lang="en-GB" b="1" dirty="0" smtClean="0">
                <a:solidFill>
                  <a:srgbClr val="C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Tux</a:t>
            </a:r>
            <a:r>
              <a:rPr lang="en-GB" dirty="0" smtClean="0">
                <a:solidFill>
                  <a:srgbClr val="222222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dirty="0">
                <a:solidFill>
                  <a:srgbClr val="222222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is the most commonly used </a:t>
            </a:r>
            <a:r>
              <a:rPr lang="en-GB" dirty="0" smtClean="0">
                <a:solidFill>
                  <a:srgbClr val="222222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logo </a:t>
            </a:r>
            <a:r>
              <a:rPr lang="en-GB" dirty="0">
                <a:solidFill>
                  <a:srgbClr val="222222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for Linux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40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Unix 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4114800" cy="430377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 smtClean="0"/>
              <a:t>Unix legacy:</a:t>
            </a:r>
          </a:p>
          <a:p>
            <a:pPr lvl="1" algn="just"/>
            <a:r>
              <a:rPr lang="en-GB" dirty="0" smtClean="0"/>
              <a:t>The first OS written in a high-level programming language (C) </a:t>
            </a:r>
          </a:p>
          <a:p>
            <a:pPr lvl="1" algn="just"/>
            <a:r>
              <a:rPr lang="en-GB" dirty="0" smtClean="0"/>
              <a:t>The first widely portable OS  Unix v7 (1979) </a:t>
            </a:r>
          </a:p>
          <a:p>
            <a:pPr marL="411480" lvl="1" indent="0" algn="just">
              <a:buNone/>
            </a:pPr>
            <a:endParaRPr lang="en-GB" dirty="0" smtClean="0"/>
          </a:p>
          <a:p>
            <a:pPr algn="just"/>
            <a:r>
              <a:rPr lang="en-GB" dirty="0" smtClean="0"/>
              <a:t>Unix </a:t>
            </a:r>
            <a:r>
              <a:rPr lang="en-GB" dirty="0"/>
              <a:t>family tree </a:t>
            </a:r>
            <a:r>
              <a:rPr lang="en-DE" dirty="0"/>
              <a:t>–</a:t>
            </a:r>
            <a:r>
              <a:rPr lang="en-GB" dirty="0"/>
              <a:t> Linux is one of </a:t>
            </a:r>
            <a:r>
              <a:rPr lang="en-GB" dirty="0" smtClean="0"/>
              <a:t>its direct descendants</a:t>
            </a:r>
          </a:p>
          <a:p>
            <a:pPr lvl="1" algn="just"/>
            <a:r>
              <a:rPr lang="en-GB" dirty="0" smtClean="0"/>
              <a:t>Mac OS is also part of this family!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857634"/>
            <a:ext cx="6705600" cy="481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4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Unix 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1789176"/>
          </a:xfrm>
        </p:spPr>
        <p:txBody>
          <a:bodyPr>
            <a:normAutofit/>
          </a:bodyPr>
          <a:lstStyle/>
          <a:p>
            <a:r>
              <a:rPr lang="en-GB" dirty="0"/>
              <a:t>Unix w</a:t>
            </a:r>
            <a:r>
              <a:rPr lang="en-DE" dirty="0"/>
              <a:t>as developed at “Bell Labs” in </a:t>
            </a:r>
            <a:r>
              <a:rPr lang="en-US" dirty="0"/>
              <a:t>Murray Hill, New Jersey</a:t>
            </a:r>
            <a:r>
              <a:rPr lang="en-DE" dirty="0"/>
              <a:t>, USA, in the </a:t>
            </a:r>
            <a:r>
              <a:rPr lang="en-DE" dirty="0" smtClean="0"/>
              <a:t>70’s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514600"/>
            <a:ext cx="7543800" cy="404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8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Unix 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1789176"/>
          </a:xfrm>
        </p:spPr>
        <p:txBody>
          <a:bodyPr>
            <a:normAutofit/>
          </a:bodyPr>
          <a:lstStyle/>
          <a:p>
            <a:r>
              <a:rPr lang="en-GB" dirty="0"/>
              <a:t>Unix w</a:t>
            </a:r>
            <a:r>
              <a:rPr lang="en-DE" dirty="0"/>
              <a:t>as developed at “Bell Labs” in </a:t>
            </a:r>
            <a:r>
              <a:rPr lang="en-US" dirty="0"/>
              <a:t>Murray Hill, New Jersey</a:t>
            </a:r>
            <a:r>
              <a:rPr lang="en-DE" dirty="0"/>
              <a:t>, USA, in the </a:t>
            </a:r>
            <a:r>
              <a:rPr lang="en-DE" dirty="0" smtClean="0"/>
              <a:t>70’s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2" descr="https://upload.wikimedia.org/wikipedia/commons/2/2e/Bell_Laboratories_at_New_Providence%2C_New_Jersey_%287235324892%29_%28cropped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787770"/>
            <a:ext cx="830591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Linux 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384657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/>
              <a:t>Linux family tree: Common Linux kernel and </a:t>
            </a:r>
            <a:r>
              <a:rPr lang="en-GB" dirty="0" smtClean="0"/>
              <a:t>a plethora </a:t>
            </a:r>
            <a:r>
              <a:rPr lang="en-GB" dirty="0"/>
              <a:t>of different Linux distributions built on top of it</a:t>
            </a:r>
          </a:p>
          <a:p>
            <a:pPr lvl="1" algn="just"/>
            <a:r>
              <a:rPr lang="en-GB" dirty="0"/>
              <a:t>Full-core: </a:t>
            </a:r>
            <a:r>
              <a:rPr lang="en-GB" dirty="0" err="1"/>
              <a:t>Debian</a:t>
            </a:r>
            <a:r>
              <a:rPr lang="en-GB" dirty="0"/>
              <a:t>, Red Hat Enterprise, </a:t>
            </a:r>
            <a:r>
              <a:rPr lang="en-GB" dirty="0" err="1"/>
              <a:t>openSUSE</a:t>
            </a:r>
            <a:r>
              <a:rPr lang="en-GB" dirty="0"/>
              <a:t>, etc.</a:t>
            </a:r>
          </a:p>
          <a:p>
            <a:pPr lvl="1" algn="just"/>
            <a:r>
              <a:rPr lang="en-GB" dirty="0"/>
              <a:t>Specific: Ubuntu, Fedora, CentOS, Linux Mint, etc.  </a:t>
            </a:r>
          </a:p>
          <a:p>
            <a:pPr algn="just"/>
            <a:r>
              <a:rPr lang="en-GB" dirty="0"/>
              <a:t>Specific distributions are derivatives of full-core distributions: </a:t>
            </a:r>
          </a:p>
          <a:p>
            <a:pPr lvl="1" algn="just"/>
            <a:r>
              <a:rPr lang="en-GB" dirty="0"/>
              <a:t>Ubuntu is derivative of </a:t>
            </a:r>
            <a:r>
              <a:rPr lang="en-GB" dirty="0" err="1"/>
              <a:t>Debian</a:t>
            </a:r>
            <a:r>
              <a:rPr lang="en-GB" dirty="0"/>
              <a:t>, Fedora of Red Hat, etc. (see complete tree at </a:t>
            </a:r>
            <a:r>
              <a:rPr lang="en-GB" sz="1900" dirty="0">
                <a:hlinkClick r:id="rId2"/>
              </a:rPr>
              <a:t>https://distrowatch.com/images/other/distro-family-tree.png</a:t>
            </a:r>
            <a:r>
              <a:rPr lang="en-GB" dirty="0"/>
              <a:t>)</a:t>
            </a:r>
          </a:p>
          <a:p>
            <a:pPr algn="just"/>
            <a:r>
              <a:rPr lang="en-GB" dirty="0"/>
              <a:t>The material presented in this course will be demonstrated on Ubuntu, but it applies also to any other Linux distribution</a:t>
            </a:r>
          </a:p>
          <a:p>
            <a:pPr algn="just"/>
            <a:r>
              <a:rPr lang="en-GB" dirty="0"/>
              <a:t>Regular updates on all distributions: </a:t>
            </a:r>
            <a:r>
              <a:rPr lang="en-GB" sz="1900" dirty="0">
                <a:hlinkClick r:id="rId3"/>
              </a:rPr>
              <a:t>https://distrowatch.com</a:t>
            </a:r>
            <a:endParaRPr lang="en-GB" sz="19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6" name="Picture 2" descr="The Ubuntu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486400"/>
            <a:ext cx="2743200" cy="123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0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 smtClean="0"/>
              <a:t>Key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361981" y="1752600"/>
            <a:ext cx="2590800" cy="1143000"/>
          </a:xfrm>
        </p:spPr>
        <p:txBody>
          <a:bodyPr>
            <a:normAutofit/>
          </a:bodyPr>
          <a:lstStyle/>
          <a:p>
            <a:r>
              <a:rPr lang="en-DE" sz="2200" dirty="0" smtClean="0"/>
              <a:t>Ken Thompson</a:t>
            </a:r>
            <a:endParaRPr lang="en-GB" sz="2200" dirty="0" smtClean="0"/>
          </a:p>
          <a:p>
            <a:pPr marL="109728" indent="0">
              <a:buNone/>
            </a:pP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23" y="2209799"/>
            <a:ext cx="2212858" cy="3242095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876800" y="1752600"/>
            <a:ext cx="2328740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DE" sz="2200" dirty="0" smtClean="0">
                <a:effectLst/>
              </a:rPr>
              <a:t>Denis Ritchie</a:t>
            </a:r>
            <a:endParaRPr lang="en-GB" sz="2200" dirty="0" smtClean="0">
              <a:effectLst/>
            </a:endParaRPr>
          </a:p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GB" dirty="0"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5486400"/>
            <a:ext cx="24112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 </a:t>
            </a:r>
            <a:r>
              <a:rPr lang="en-DE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programming language,</a:t>
            </a:r>
          </a:p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UNIX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endParaRPr lang="en-GB" sz="1400" dirty="0" smtClean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Regular expressions,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DE" sz="1400" dirty="0" smtClean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UTF-8 encoding,</a:t>
            </a:r>
          </a:p>
          <a:p>
            <a:r>
              <a:rPr lang="en-DE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Go programming language, </a:t>
            </a:r>
            <a:endParaRPr lang="en-DE" sz="1400" dirty="0" smtClean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hess tablebases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251" y="2230815"/>
            <a:ext cx="2622349" cy="3221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53000" y="548640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programming language,</a:t>
            </a:r>
          </a:p>
          <a:p>
            <a:r>
              <a:rPr lang="en-US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UNIX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426651" y="1752600"/>
            <a:ext cx="2698549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DE" sz="2200" dirty="0" smtClean="0">
                <a:effectLst/>
              </a:rPr>
              <a:t>Linus Torwalds</a:t>
            </a:r>
            <a:endParaRPr lang="en-GB" sz="2200" dirty="0" smtClean="0">
              <a:effectLst/>
            </a:endParaRPr>
          </a:p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GB" dirty="0"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9061" y="5486400"/>
            <a:ext cx="24499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inux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Git (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version </a:t>
            </a:r>
            <a:r>
              <a:rPr lang="en-US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control 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0" y="2209800"/>
            <a:ext cx="2278661" cy="324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da-DK" b="1" dirty="0"/>
              <a:t>Getting Ubuntu for Windows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3846576"/>
          </a:xfrm>
        </p:spPr>
        <p:txBody>
          <a:bodyPr>
            <a:normAutofit/>
          </a:bodyPr>
          <a:lstStyle/>
          <a:p>
            <a:r>
              <a:rPr lang="en-GB" dirty="0"/>
              <a:t>If you have only Windows on your laptop, you could either</a:t>
            </a:r>
            <a:r>
              <a:rPr lang="en-GB" dirty="0" smtClean="0"/>
              <a:t>:</a:t>
            </a:r>
            <a:endParaRPr lang="en-GB" sz="800" dirty="0"/>
          </a:p>
          <a:p>
            <a:pPr lvl="1"/>
            <a:r>
              <a:rPr lang="en-GB" dirty="0"/>
              <a:t>on Windows 11, use </a:t>
            </a:r>
            <a:r>
              <a:rPr lang="en-GB" dirty="0">
                <a:hlinkClick r:id="rId2"/>
              </a:rPr>
              <a:t>Windows Subsystem for Linux</a:t>
            </a:r>
            <a:r>
              <a:rPr lang="en-GB" dirty="0"/>
              <a:t> :</a:t>
            </a:r>
          </a:p>
          <a:p>
            <a:pPr marL="411480" lvl="1" indent="0">
              <a:buNone/>
            </a:pPr>
            <a:endParaRPr lang="en-GB" sz="800" dirty="0"/>
          </a:p>
          <a:p>
            <a:pPr lvl="2"/>
            <a:r>
              <a:rPr lang="en-GB" sz="1600" dirty="0"/>
              <a:t> Open Windows PowerShell and list available Linux distributions with the command:    </a:t>
            </a:r>
          </a:p>
          <a:p>
            <a:pPr marL="704088" lvl="2" indent="0">
              <a:buNone/>
            </a:pPr>
            <a:r>
              <a:rPr lang="en-GB" sz="1600" b="1" dirty="0">
                <a:solidFill>
                  <a:schemeClr val="tx1"/>
                </a:solidFill>
                <a:cs typeface="Helvetica" panose="020B0604020202020204" pitchFamily="34" charset="0"/>
              </a:rPr>
              <a:t>          </a:t>
            </a:r>
            <a:r>
              <a:rPr lang="en-GB" sz="1600" b="1" dirty="0" err="1">
                <a:solidFill>
                  <a:schemeClr val="tx1"/>
                </a:solidFill>
                <a:cs typeface="Helvetica" panose="020B0604020202020204" pitchFamily="34" charset="0"/>
              </a:rPr>
              <a:t>wsl</a:t>
            </a:r>
            <a:r>
              <a:rPr lang="en-GB" sz="1600" b="1" dirty="0">
                <a:solidFill>
                  <a:schemeClr val="tx1"/>
                </a:solidFill>
                <a:cs typeface="Helvetica" panose="020B0604020202020204" pitchFamily="34" charset="0"/>
              </a:rPr>
              <a:t> --list </a:t>
            </a:r>
            <a:r>
              <a:rPr lang="en-DE" sz="1600" b="1" dirty="0">
                <a:solidFill>
                  <a:schemeClr val="tx1"/>
                </a:solidFill>
                <a:cs typeface="Helvetica" panose="020B0604020202020204" pitchFamily="34" charset="0"/>
              </a:rPr>
              <a:t>--</a:t>
            </a:r>
            <a:r>
              <a:rPr lang="en-GB" sz="1600" b="1" dirty="0">
                <a:solidFill>
                  <a:schemeClr val="tx1"/>
                </a:solidFill>
                <a:cs typeface="Helvetica" panose="020B0604020202020204" pitchFamily="34" charset="0"/>
              </a:rPr>
              <a:t>online</a:t>
            </a:r>
          </a:p>
          <a:p>
            <a:pPr marL="704088" lvl="2" indent="0">
              <a:buNone/>
            </a:pPr>
            <a:endParaRPr lang="en-GB" sz="800" dirty="0"/>
          </a:p>
          <a:p>
            <a:pPr lvl="2"/>
            <a:r>
              <a:rPr lang="en-GB" sz="1600" dirty="0"/>
              <a:t> Pick up your </a:t>
            </a:r>
            <a:r>
              <a:rPr lang="en-DE" sz="1600" dirty="0"/>
              <a:t>favorite</a:t>
            </a:r>
            <a:r>
              <a:rPr lang="en-GB" sz="1600" dirty="0"/>
              <a:t> Linux distribution, and install it</a:t>
            </a:r>
            <a:r>
              <a:rPr lang="en-DE" sz="1600" dirty="0"/>
              <a:t> e.g.</a:t>
            </a:r>
            <a:r>
              <a:rPr lang="en-GB" sz="1600" dirty="0"/>
              <a:t> as follows:            </a:t>
            </a:r>
          </a:p>
          <a:p>
            <a:pPr marL="704088" lvl="2" indent="0">
              <a:buNone/>
            </a:pPr>
            <a:r>
              <a:rPr lang="en-GB" sz="1600" dirty="0"/>
              <a:t>          </a:t>
            </a:r>
            <a:r>
              <a:rPr lang="en-GB" sz="1600" b="1" dirty="0" err="1">
                <a:solidFill>
                  <a:schemeClr val="tx1"/>
                </a:solidFill>
              </a:rPr>
              <a:t>wsl</a:t>
            </a:r>
            <a:r>
              <a:rPr lang="en-GB" sz="1600" b="1" dirty="0">
                <a:solidFill>
                  <a:schemeClr val="tx1"/>
                </a:solidFill>
              </a:rPr>
              <a:t> --install Ubuntu-24.04</a:t>
            </a:r>
          </a:p>
          <a:p>
            <a:pPr marL="704088" lvl="2" indent="0">
              <a:buNone/>
            </a:pPr>
            <a:endParaRPr lang="en-GB" sz="800" dirty="0">
              <a:solidFill>
                <a:srgbClr val="002060"/>
              </a:solidFill>
            </a:endParaRPr>
          </a:p>
          <a:p>
            <a:pPr lvl="2"/>
            <a:r>
              <a:rPr lang="en-GB" sz="1600" dirty="0">
                <a:solidFill>
                  <a:srgbClr val="002060"/>
                </a:solidFill>
              </a:rPr>
              <a:t>The rest is easy </a:t>
            </a:r>
            <a:r>
              <a:rPr lang="en-GB" sz="1600" dirty="0"/>
              <a:t>(pick up your account, etc</a:t>
            </a:r>
            <a:r>
              <a:rPr lang="en-GB" sz="1600" dirty="0" smtClean="0"/>
              <a:t>.)</a:t>
            </a:r>
          </a:p>
          <a:p>
            <a:pPr marL="704088" lvl="2" indent="0">
              <a:buNone/>
            </a:pPr>
            <a:endParaRPr lang="en-GB" sz="2000" b="1" dirty="0">
              <a:solidFill>
                <a:schemeClr val="tx1"/>
              </a:solidFill>
            </a:endParaRPr>
          </a:p>
          <a:p>
            <a:pPr marL="365760" lvl="1" indent="-256032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or, install </a:t>
            </a:r>
            <a:r>
              <a:rPr lang="en-GB" dirty="0" err="1">
                <a:solidFill>
                  <a:schemeClr val="tx1"/>
                </a:solidFill>
              </a:rPr>
              <a:t>PuTTY</a:t>
            </a:r>
            <a:r>
              <a:rPr lang="en-GB" dirty="0">
                <a:solidFill>
                  <a:schemeClr val="tx1"/>
                </a:solidFill>
              </a:rPr>
              <a:t> (</a:t>
            </a:r>
            <a:r>
              <a:rPr lang="en-GB" sz="1800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  <a:hlinkClick r:id="rId3"/>
              </a:rPr>
              <a:t>https://www.putty.org/</a:t>
            </a:r>
            <a:r>
              <a:rPr lang="en-GB" dirty="0">
                <a:solidFill>
                  <a:schemeClr val="tx1"/>
                </a:solidFill>
              </a:rPr>
              <a:t> ) and then use it to connect and work remotely on some computer running Linux, on which you have an account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Picture 2" descr="The Ubuntu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509" y="838200"/>
            <a:ext cx="2743200" cy="123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70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da-DK" b="1" dirty="0"/>
              <a:t>Is this the </a:t>
            </a:r>
            <a:r>
              <a:rPr lang="da-DK" b="1" dirty="0" smtClean="0"/>
              <a:t>right crash </a:t>
            </a:r>
            <a:r>
              <a:rPr lang="da-DK" b="1" dirty="0"/>
              <a:t>course for you?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569976"/>
          </a:xfrm>
        </p:spPr>
        <p:txBody>
          <a:bodyPr>
            <a:normAutofit/>
          </a:bodyPr>
          <a:lstStyle/>
          <a:p>
            <a:pPr marL="365760" lvl="1" indent="-256032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If, after you have opened a terminal in Linux </a:t>
            </a:r>
            <a:r>
              <a:rPr lang="en-DE" sz="2400" dirty="0">
                <a:solidFill>
                  <a:schemeClr val="tx1"/>
                </a:solidFill>
              </a:rPr>
              <a:t>…</a:t>
            </a:r>
            <a:endParaRPr lang="en-US" sz="2400" dirty="0">
              <a:solidFill>
                <a:schemeClr val="tx1"/>
              </a:solidFill>
            </a:endParaRPr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554224"/>
            <a:ext cx="6248400" cy="3435534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85800" y="6172200"/>
            <a:ext cx="108966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fontAlgn="auto">
              <a:spcAft>
                <a:spcPts val="0"/>
              </a:spcAft>
              <a:buNone/>
            </a:pPr>
            <a:r>
              <a:rPr lang="en-DE" dirty="0" smtClean="0">
                <a:solidFill>
                  <a:schemeClr val="tx1"/>
                </a:solidFill>
                <a:effectLst/>
              </a:rPr>
              <a:t>…</a:t>
            </a:r>
            <a:r>
              <a:rPr lang="en-GB" dirty="0" smtClean="0">
                <a:solidFill>
                  <a:schemeClr val="tx1"/>
                </a:solidFill>
                <a:effectLst/>
              </a:rPr>
              <a:t> you have asked yourself: ‘What now?’, then this is the right course for you</a:t>
            </a:r>
            <a:r>
              <a:rPr lang="en-GB" dirty="0" smtClean="0">
                <a:solidFill>
                  <a:schemeClr val="tx1"/>
                </a:solidFill>
                <a:effectLst/>
              </a:rPr>
              <a:t>!</a:t>
            </a:r>
            <a:endParaRPr lang="en-US" dirty="0" smtClean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346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da-DK" b="1" dirty="0"/>
              <a:t>Is this the </a:t>
            </a:r>
            <a:r>
              <a:rPr lang="da-DK" b="1" dirty="0" smtClean="0"/>
              <a:t>right crash </a:t>
            </a:r>
            <a:r>
              <a:rPr lang="da-DK" b="1" dirty="0"/>
              <a:t>course for you?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4075176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/>
              <a:t>What </a:t>
            </a:r>
            <a:r>
              <a:rPr lang="en-GB" dirty="0"/>
              <a:t>can we do in the terminal?</a:t>
            </a:r>
            <a:endParaRPr lang="en-US" dirty="0"/>
          </a:p>
          <a:p>
            <a:pPr lvl="1" algn="just"/>
            <a:r>
              <a:rPr lang="en-GB" dirty="0"/>
              <a:t>Not that much with the mouse</a:t>
            </a:r>
            <a:r>
              <a:rPr lang="en-DE" dirty="0"/>
              <a:t>…</a:t>
            </a:r>
            <a:endParaRPr lang="en-GB" dirty="0"/>
          </a:p>
          <a:p>
            <a:pPr algn="just"/>
            <a:r>
              <a:rPr lang="en-GB" dirty="0"/>
              <a:t>Next, you can start typing and pressing ‘Enter’, but most likely, whatever you have typed in the terminal will produce only error messages</a:t>
            </a:r>
          </a:p>
          <a:p>
            <a:pPr lvl="1" algn="just"/>
            <a:r>
              <a:rPr lang="en-GB" dirty="0"/>
              <a:t>Still, that is something, as it clearly means that there is some secret/magic language </a:t>
            </a:r>
            <a:r>
              <a:rPr lang="en-DE" dirty="0"/>
              <a:t>that</a:t>
            </a:r>
            <a:r>
              <a:rPr lang="en-GB" dirty="0"/>
              <a:t> is trying to respond to, or to interpret, your command input, as soon as you have typed something in the terminal and pressed ‘Enter’. What is that secret built-in language available in the terminal?</a:t>
            </a:r>
            <a:endParaRPr lang="en-US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13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da-DK" b="1" dirty="0" smtClean="0"/>
              <a:t>Linux shells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4684776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Loosely </a:t>
            </a:r>
            <a:r>
              <a:rPr lang="en-US" dirty="0"/>
              <a:t>speaking, a shell is any program that a user employs to type commands in the terminal (text window)</a:t>
            </a:r>
          </a:p>
          <a:p>
            <a:pPr algn="just"/>
            <a:r>
              <a:rPr lang="da-DK" dirty="0"/>
              <a:t>Example shells:</a:t>
            </a:r>
          </a:p>
          <a:p>
            <a:pPr lvl="1" algn="just"/>
            <a:r>
              <a:rPr lang="da-DK" dirty="0"/>
              <a:t>sh</a:t>
            </a:r>
          </a:p>
          <a:p>
            <a:pPr lvl="1" algn="just"/>
            <a:r>
              <a:rPr lang="da-DK" dirty="0"/>
              <a:t>bash</a:t>
            </a:r>
          </a:p>
          <a:p>
            <a:pPr lvl="1" algn="just"/>
            <a:r>
              <a:rPr lang="da-DK" dirty="0"/>
              <a:t>zsh</a:t>
            </a:r>
          </a:p>
          <a:p>
            <a:pPr lvl="1" algn="just"/>
            <a:r>
              <a:rPr lang="da-DK" dirty="0"/>
              <a:t>ksh</a:t>
            </a:r>
          </a:p>
          <a:p>
            <a:pPr lvl="1" algn="just"/>
            <a:r>
              <a:rPr lang="da-DK" dirty="0"/>
              <a:t>csh</a:t>
            </a:r>
          </a:p>
          <a:p>
            <a:pPr lvl="1" algn="just"/>
            <a:r>
              <a:rPr lang="da-DK" dirty="0"/>
              <a:t>fish</a:t>
            </a:r>
          </a:p>
          <a:p>
            <a:pPr lvl="1" algn="just"/>
            <a:r>
              <a:rPr lang="da-DK" dirty="0"/>
              <a:t>PowerShell (developed by Microsoft)</a:t>
            </a:r>
          </a:p>
          <a:p>
            <a:pPr algn="just"/>
            <a:r>
              <a:rPr lang="da-DK" dirty="0"/>
              <a:t>Since Bash is the default shell on most Linux distributions nowadays, we focus on it</a:t>
            </a:r>
          </a:p>
          <a:p>
            <a:pPr lvl="1" algn="just"/>
            <a:r>
              <a:rPr lang="da-DK" dirty="0"/>
              <a:t>If not set by default, just type </a:t>
            </a:r>
            <a:r>
              <a:rPr lang="da-DK" b="1" dirty="0"/>
              <a:t>bash</a:t>
            </a:r>
            <a:r>
              <a:rPr lang="da-DK" dirty="0"/>
              <a:t> in the terminal, and you are in the Bash wonderland </a:t>
            </a:r>
          </a:p>
          <a:p>
            <a:pPr algn="just"/>
            <a:endParaRPr lang="en-US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46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da-DK" b="1" dirty="0" smtClean="0"/>
              <a:t>Why shell?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1712976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The shell translates the commands you type into a format that the computer can understand</a:t>
            </a:r>
          </a:p>
          <a:p>
            <a:pPr lvl="1" algn="just"/>
            <a:r>
              <a:rPr lang="en-GB" dirty="0"/>
              <a:t>It works both ways:</a:t>
            </a:r>
            <a:r>
              <a:rPr lang="en-DE" dirty="0"/>
              <a:t> The use</a:t>
            </a:r>
            <a:r>
              <a:rPr lang="en-GB" dirty="0"/>
              <a:t>r is shielded from</a:t>
            </a:r>
            <a:r>
              <a:rPr lang="en-DE" dirty="0"/>
              <a:t> the</a:t>
            </a:r>
            <a:r>
              <a:rPr lang="en-GB" dirty="0"/>
              <a:t> Linux kernel, and</a:t>
            </a:r>
            <a:r>
              <a:rPr lang="en-DE" dirty="0"/>
              <a:t> the</a:t>
            </a:r>
            <a:r>
              <a:rPr lang="en-GB" dirty="0"/>
              <a:t> Linux kernel is shielded from</a:t>
            </a:r>
            <a:r>
              <a:rPr lang="en-DE" dirty="0"/>
              <a:t> the</a:t>
            </a:r>
            <a:r>
              <a:rPr lang="en-GB" dirty="0"/>
              <a:t> user</a:t>
            </a:r>
            <a:endParaRPr lang="en-US" dirty="0"/>
          </a:p>
          <a:p>
            <a:pPr algn="just"/>
            <a:endParaRPr lang="en-US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5" name="Picture 2" descr="SHE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683" y="3505200"/>
            <a:ext cx="3834717" cy="316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3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/>
              <a:t>A bit of Bash history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3541776"/>
          </a:xfrm>
        </p:spPr>
        <p:txBody>
          <a:bodyPr>
            <a:normAutofit lnSpcReduction="10000"/>
          </a:bodyPr>
          <a:lstStyle/>
          <a:p>
            <a:r>
              <a:rPr lang="da-DK" dirty="0"/>
              <a:t>Initial development by Brian Fox in 1989 as a part of GNU project... </a:t>
            </a:r>
            <a:endParaRPr lang="da-DK" dirty="0" smtClean="0"/>
          </a:p>
          <a:p>
            <a:pPr lvl="1"/>
            <a:r>
              <a:rPr lang="da-DK" dirty="0" smtClean="0"/>
              <a:t>And </a:t>
            </a:r>
            <a:r>
              <a:rPr lang="da-DK" dirty="0"/>
              <a:t>it’s still alive!</a:t>
            </a:r>
          </a:p>
          <a:p>
            <a:r>
              <a:rPr lang="da-DK" dirty="0"/>
              <a:t>Bash is an acronym for ‘Bourne-again shell’</a:t>
            </a:r>
          </a:p>
          <a:p>
            <a:pPr lvl="1"/>
            <a:r>
              <a:rPr lang="da-DK" dirty="0"/>
              <a:t>The original shell ‘sh’ was written in 1977 by Stephen Bourne</a:t>
            </a:r>
          </a:p>
          <a:p>
            <a:r>
              <a:rPr lang="da-DK" dirty="0"/>
              <a:t>Written entirely in C </a:t>
            </a:r>
          </a:p>
          <a:p>
            <a:pPr lvl="1"/>
            <a:r>
              <a:rPr lang="da-DK" dirty="0"/>
              <a:t>The Linux kernel is mostly written in C</a:t>
            </a:r>
          </a:p>
          <a:p>
            <a:r>
              <a:rPr lang="da-DK" dirty="0"/>
              <a:t>Executable: /bin/bash</a:t>
            </a:r>
          </a:p>
          <a:p>
            <a:r>
              <a:rPr lang="da-DK" dirty="0"/>
              <a:t>File extension: .sh</a:t>
            </a:r>
          </a:p>
          <a:p>
            <a:r>
              <a:rPr lang="da-DK" dirty="0"/>
              <a:t>Command processor / interpreted / scripting language</a:t>
            </a:r>
          </a:p>
          <a:p>
            <a:pPr algn="just"/>
            <a:endParaRPr lang="en-US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6" name="Picture 2" descr="https://camo.githubusercontent.com/7c9b27101ba491969d016f2f2427c3e066f7bd0b/68747470733a2f2f63646e2e7261776769742e636f6d2f6f64622f6f6666696369616c2d626173682d6c6f676f2f6d61737465722f6173736574732f4c6f676f732f4964656e746974792f504e472f424153485f6c6f676f2d7472616e73706172656e742d62672d636f6c6f722e706e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5257800"/>
            <a:ext cx="3390900" cy="143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10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/>
              <a:t>The current status of Bash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3541776"/>
          </a:xfrm>
        </p:spPr>
        <p:txBody>
          <a:bodyPr>
            <a:normAutofit/>
          </a:bodyPr>
          <a:lstStyle/>
          <a:p>
            <a:r>
              <a:rPr lang="da-DK" dirty="0"/>
              <a:t>Bash is </a:t>
            </a:r>
            <a:r>
              <a:rPr lang="en-DE" dirty="0"/>
              <a:t>well-maintained</a:t>
            </a:r>
            <a:r>
              <a:rPr lang="da-DK" dirty="0"/>
              <a:t> and </a:t>
            </a:r>
            <a:r>
              <a:rPr lang="da-DK" dirty="0" smtClean="0"/>
              <a:t>is still </a:t>
            </a:r>
            <a:r>
              <a:rPr lang="da-DK" dirty="0"/>
              <a:t>under regular development</a:t>
            </a:r>
          </a:p>
          <a:p>
            <a:pPr lvl="1"/>
            <a:r>
              <a:rPr lang="en-US" dirty="0"/>
              <a:t>Webpage: </a:t>
            </a:r>
            <a:r>
              <a:rPr lang="en-US" sz="1800" dirty="0">
                <a:hlinkClick r:id="rId2"/>
              </a:rPr>
              <a:t>https://www.gnu.org/software/bash/</a:t>
            </a:r>
            <a:endParaRPr lang="en-US" sz="1800" dirty="0"/>
          </a:p>
          <a:p>
            <a:pPr lvl="1"/>
            <a:r>
              <a:rPr lang="en-US" dirty="0"/>
              <a:t>Source code: </a:t>
            </a:r>
            <a:r>
              <a:rPr lang="en-US" sz="1800" dirty="0">
                <a:hlinkClick r:id="rId3"/>
              </a:rPr>
              <a:t>http://git.savannah.gnu.org/cgit/bash.git</a:t>
            </a:r>
            <a:endParaRPr lang="da-DK" sz="1800" dirty="0"/>
          </a:p>
          <a:p>
            <a:r>
              <a:rPr lang="da-DK" dirty="0"/>
              <a:t>Latest release: version </a:t>
            </a:r>
            <a:r>
              <a:rPr lang="en-GB" dirty="0"/>
              <a:t>5.3 (July </a:t>
            </a:r>
            <a:r>
              <a:rPr lang="en-DE" dirty="0"/>
              <a:t>3</a:t>
            </a:r>
            <a:r>
              <a:rPr lang="en-GB" dirty="0" err="1"/>
              <a:t>rd</a:t>
            </a:r>
            <a:r>
              <a:rPr lang="en-GB" dirty="0"/>
              <a:t>, 2025)</a:t>
            </a:r>
          </a:p>
          <a:p>
            <a:pPr lvl="1"/>
            <a:r>
              <a:rPr lang="en-GB" dirty="0"/>
              <a:t>The current maintainer: Chet Ramey</a:t>
            </a:r>
            <a:r>
              <a:rPr lang="da-DK" dirty="0"/>
              <a:t> </a:t>
            </a:r>
          </a:p>
          <a:p>
            <a:pPr marL="109728" indent="0" algn="just">
              <a:buNone/>
            </a:pPr>
            <a:endParaRPr lang="en-US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6" name="Picture 2" descr="https://camo.githubusercontent.com/7c9b27101ba491969d016f2f2427c3e066f7bd0b/68747470733a2f2f63646e2e7261776769742e636f6d2f6f64622f6f6666696369616c2d626173682d6c6f676f2f6d61737465722f6173736574732f4c6f676f732f4964656e746974792f504e472f424153485f6c6f676f2d7472616e73706172656e742d62672d636f6c6f722e706e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5257800"/>
            <a:ext cx="3390900" cy="143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37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10972800" cy="1066800"/>
          </a:xfrm>
        </p:spPr>
        <p:txBody>
          <a:bodyPr/>
          <a:lstStyle/>
          <a:p>
            <a:r>
              <a:rPr lang="en-US" b="1" dirty="0"/>
              <a:t>Interpreted vs. compiled languages</a:t>
            </a:r>
            <a:r>
              <a:rPr lang="en-US" dirty="0"/>
              <a:t> </a:t>
            </a:r>
            <a:r>
              <a:rPr lang="en-US" b="1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4624"/>
            <a:ext cx="11353800" cy="3541776"/>
          </a:xfrm>
        </p:spPr>
        <p:txBody>
          <a:bodyPr>
            <a:normAutofit/>
          </a:bodyPr>
          <a:lstStyle/>
          <a:p>
            <a:r>
              <a:rPr lang="da-DK" dirty="0"/>
              <a:t>Interpreted: </a:t>
            </a:r>
          </a:p>
          <a:p>
            <a:pPr lvl="1"/>
            <a:r>
              <a:rPr lang="da-DK" dirty="0"/>
              <a:t>write code &amp; execute line-by-line</a:t>
            </a:r>
          </a:p>
          <a:p>
            <a:pPr lvl="1"/>
            <a:r>
              <a:rPr lang="da-DK" dirty="0"/>
              <a:t>less reliable (there is no compiler to catch the errors!)  </a:t>
            </a:r>
          </a:p>
          <a:p>
            <a:pPr lvl="1"/>
            <a:r>
              <a:rPr lang="da-DK" dirty="0"/>
              <a:t>the source code can be easily read and copied </a:t>
            </a:r>
          </a:p>
          <a:p>
            <a:pPr lvl="1"/>
            <a:r>
              <a:rPr lang="da-DK" dirty="0"/>
              <a:t>examples: Bash, Python, Mathematica, JavaScript</a:t>
            </a:r>
          </a:p>
          <a:p>
            <a:r>
              <a:rPr lang="da-DK" dirty="0"/>
              <a:t>Compiled: </a:t>
            </a:r>
          </a:p>
          <a:p>
            <a:pPr lvl="1"/>
            <a:r>
              <a:rPr lang="da-DK" dirty="0"/>
              <a:t>write code &amp; compile &amp; execute the compiled file (‘binaries’)</a:t>
            </a:r>
          </a:p>
          <a:p>
            <a:pPr lvl="1"/>
            <a:r>
              <a:rPr lang="en-US" dirty="0"/>
              <a:t>generally runs faster than interpreted code</a:t>
            </a:r>
          </a:p>
          <a:p>
            <a:pPr lvl="1"/>
            <a:r>
              <a:rPr lang="da-DK" dirty="0"/>
              <a:t>examples: C, C++, Java, Go</a:t>
            </a:r>
          </a:p>
          <a:p>
            <a:pPr marL="109728" indent="0" algn="just">
              <a:buNone/>
            </a:pPr>
            <a:endParaRPr lang="en-US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0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895600"/>
            <a:ext cx="8839200" cy="838200"/>
          </a:xfrm>
        </p:spPr>
        <p:txBody>
          <a:bodyPr>
            <a:noAutofit/>
          </a:bodyPr>
          <a:lstStyle/>
          <a:p>
            <a:pPr algn="ctr"/>
            <a:r>
              <a:rPr lang="da-DK" b="1" dirty="0" smtClean="0"/>
              <a:t>Thanks!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7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958</Words>
  <Application>Microsoft Office PowerPoint</Application>
  <PresentationFormat>Widescreen</PresentationFormat>
  <Paragraphs>139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Courier New</vt:lpstr>
      <vt:lpstr>Georgia</vt:lpstr>
      <vt:lpstr>Helvetica</vt:lpstr>
      <vt:lpstr>Trebuchet MS</vt:lpstr>
      <vt:lpstr>Wingdings 2</vt:lpstr>
      <vt:lpstr>Urban</vt:lpstr>
      <vt:lpstr>Introduction to  Linux OS and Bash shell</vt:lpstr>
      <vt:lpstr>Outline</vt:lpstr>
      <vt:lpstr>Why Linux OS?</vt:lpstr>
      <vt:lpstr>Why Linux OS?</vt:lpstr>
      <vt:lpstr>Why Linux OS?</vt:lpstr>
      <vt:lpstr>Unix OS </vt:lpstr>
      <vt:lpstr>Unix OS </vt:lpstr>
      <vt:lpstr>Unix OS </vt:lpstr>
      <vt:lpstr>Linux OS </vt:lpstr>
      <vt:lpstr>Key people</vt:lpstr>
      <vt:lpstr>Getting Ubuntu for Windows users</vt:lpstr>
      <vt:lpstr>Is this the right crash course for you?</vt:lpstr>
      <vt:lpstr>Is this the right crash course for you?</vt:lpstr>
      <vt:lpstr>Linux shells</vt:lpstr>
      <vt:lpstr>Why shell?</vt:lpstr>
      <vt:lpstr>A bit of Bash history </vt:lpstr>
      <vt:lpstr>The current status of Bash </vt:lpstr>
      <vt:lpstr>Interpreted vs. compiled languages  </vt:lpstr>
      <vt:lpstr>Thanks!</vt:lpstr>
    </vt:vector>
  </TitlesOfParts>
  <Company>NIKHEF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adminuser</dc:creator>
  <cp:lastModifiedBy>Ante</cp:lastModifiedBy>
  <cp:revision>4915</cp:revision>
  <dcterms:created xsi:type="dcterms:W3CDTF">2011-04-15T12:26:50Z</dcterms:created>
  <dcterms:modified xsi:type="dcterms:W3CDTF">2026-09-01T09:25:39Z</dcterms:modified>
</cp:coreProperties>
</file>